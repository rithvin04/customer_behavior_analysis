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DM Sans Semi Bold"/>
      <p:regular r:id="rId17"/>
    </p:embeddedFont>
    <p:embeddedFont>
      <p:font typeface="DM Sans Semi Bold"/>
      <p:regular r:id="rId18"/>
    </p:embeddedFont>
    <p:embeddedFont>
      <p:font typeface="DM Sans Semi Bold"/>
      <p:regular r:id="rId19"/>
    </p:embeddedFont>
    <p:embeddedFont>
      <p:font typeface="DM Sans Semi Bold"/>
      <p:regular r:id="rId20"/>
    </p:embeddedFont>
    <p:embeddedFont>
      <p:font typeface="Inter Medium"/>
      <p:regular r:id="rId21"/>
    </p:embeddedFont>
    <p:embeddedFont>
      <p:font typeface="Inter Medium"/>
      <p:regular r:id="rId22"/>
    </p:embeddedFont>
    <p:embeddedFont>
      <p:font typeface="Inter Medium"/>
      <p:regular r:id="rId23"/>
    </p:embeddedFont>
    <p:embeddedFont>
      <p:font typeface="Inter Medium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slideLayout" Target="../slideLayouts/slideLayout6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Uncovering insights from 3,900 customer transactions to drive strategic business decisions through data-driven analysis of spending patterns, preferences, and behavior.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0958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71875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3,900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900113" y="46036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5094089"/>
            <a:ext cx="304800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Transactions analyzed across all categories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125278" y="3571875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18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4231719" y="46036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Data Features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25278" y="5094089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Comprehensive customer and purchase attributes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456884" y="3571875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50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7563326" y="46036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Locations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56884" y="5094089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Geographic diversity in customer base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788491" y="3571875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25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10894933" y="46036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Products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788491" y="5094089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Unique items across four categories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4593"/>
            <a:ext cx="772739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Data Preparation &amp; Cleaning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22044"/>
            <a:ext cx="6407944" cy="3048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196352"/>
            <a:ext cx="36993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Data Loading &amp; Exploration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686770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Imported dataset using pandas, examined structure with df.info() and summary statistics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3022044"/>
            <a:ext cx="6408063" cy="3048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3196352"/>
            <a:ext cx="300978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3686770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Imputed 37 missing Review Rating values using median rating per product category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164455"/>
            <a:ext cx="6407944" cy="3048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5829181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Created age_group bins and purchase_frequency_days columns for deeper analysis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164455"/>
            <a:ext cx="6408063" cy="3048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5338763"/>
            <a:ext cx="28728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5829181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Connected to PostgreSQL and loaded cleaned data for SQL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759583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Revenue Insights by Gender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510076"/>
            <a:ext cx="7604284" cy="40010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06058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0C4130"/>
          </a:solidFill>
          <a:ln/>
        </p:spPr>
      </p:sp>
      <p:sp>
        <p:nvSpPr>
          <p:cNvPr id="5" name="Text 2"/>
          <p:cNvSpPr/>
          <p:nvPr/>
        </p:nvSpPr>
        <p:spPr>
          <a:xfrm>
            <a:off x="3993832" y="6541651"/>
            <a:ext cx="52589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72132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26CC98"/>
          </a:solidFill>
          <a:ln/>
        </p:spPr>
      </p:sp>
      <p:sp>
        <p:nvSpPr>
          <p:cNvPr id="7" name="Text 4"/>
          <p:cNvSpPr/>
          <p:nvPr/>
        </p:nvSpPr>
        <p:spPr>
          <a:xfrm>
            <a:off x="4959906" y="6541651"/>
            <a:ext cx="77902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6" y="2481739"/>
            <a:ext cx="42182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Male Customers Drive Revenue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59096" y="3062883"/>
            <a:ext cx="48850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Male customers generated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$157,890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in total revenue, more than double the female customer contribution of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$75,191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959096" y="4355663"/>
            <a:ext cx="48850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This represents a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A6ED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68% vs 32%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revenue split, suggesting opportunities for targeted marketing to female segments.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544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Top-Rated Products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877854"/>
            <a:ext cx="4196358" cy="2214205"/>
          </a:xfrm>
          <a:prstGeom prst="roundRect">
            <a:avLst>
              <a:gd name="adj" fmla="val 1537"/>
            </a:avLst>
          </a:prstGeom>
          <a:solidFill>
            <a:srgbClr val="F2EEEE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210466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C977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7770" y="2291715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30119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Gloves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3502343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Rating: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3.86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1877854"/>
            <a:ext cx="4196358" cy="2214205"/>
          </a:xfrm>
          <a:prstGeom prst="roundRect">
            <a:avLst>
              <a:gd name="adj" fmla="val 1537"/>
            </a:avLst>
          </a:prstGeom>
          <a:solidFill>
            <a:srgbClr val="F2EEEE"/>
          </a:solidFill>
          <a:ln/>
        </p:spPr>
      </p:sp>
      <p:sp>
        <p:nvSpPr>
          <p:cNvPr id="9" name="Shape 6"/>
          <p:cNvSpPr/>
          <p:nvPr/>
        </p:nvSpPr>
        <p:spPr>
          <a:xfrm>
            <a:off x="5443776" y="210466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C977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0942" y="2291715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3776" y="30119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Sandals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43776" y="3502343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Rating: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3.84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1877854"/>
            <a:ext cx="4196358" cy="2214205"/>
          </a:xfrm>
          <a:prstGeom prst="roundRect">
            <a:avLst>
              <a:gd name="adj" fmla="val 1537"/>
            </a:avLst>
          </a:prstGeom>
          <a:solidFill>
            <a:srgbClr val="F2EEEE"/>
          </a:solidFill>
          <a:ln/>
        </p:spPr>
      </p:sp>
      <p:sp>
        <p:nvSpPr>
          <p:cNvPr id="14" name="Shape 10"/>
          <p:cNvSpPr/>
          <p:nvPr/>
        </p:nvSpPr>
        <p:spPr>
          <a:xfrm>
            <a:off x="9866948" y="210466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C977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54114" y="2291715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66948" y="30119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Boots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66948" y="3502343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Rating: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3.82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93790" y="4318873"/>
            <a:ext cx="6407944" cy="2214205"/>
          </a:xfrm>
          <a:prstGeom prst="roundRect">
            <a:avLst>
              <a:gd name="adj" fmla="val 1537"/>
            </a:avLst>
          </a:prstGeom>
          <a:solidFill>
            <a:srgbClr val="F2EEEE"/>
          </a:solidFill>
          <a:ln/>
        </p:spPr>
      </p:sp>
      <p:sp>
        <p:nvSpPr>
          <p:cNvPr id="19" name="Shape 14"/>
          <p:cNvSpPr/>
          <p:nvPr/>
        </p:nvSpPr>
        <p:spPr>
          <a:xfrm>
            <a:off x="1020604" y="454568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C977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07770" y="4732734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20604" y="54529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Hat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1020604" y="5943362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Rating: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3.80</a:t>
            </a:r>
            <a:endParaRPr lang="en-US" sz="1750" dirty="0"/>
          </a:p>
        </p:txBody>
      </p:sp>
      <p:sp>
        <p:nvSpPr>
          <p:cNvPr id="23" name="Shape 17"/>
          <p:cNvSpPr/>
          <p:nvPr/>
        </p:nvSpPr>
        <p:spPr>
          <a:xfrm>
            <a:off x="7428548" y="4318873"/>
            <a:ext cx="6407944" cy="2214205"/>
          </a:xfrm>
          <a:prstGeom prst="roundRect">
            <a:avLst>
              <a:gd name="adj" fmla="val 1537"/>
            </a:avLst>
          </a:prstGeom>
          <a:solidFill>
            <a:srgbClr val="F2EEEE"/>
          </a:solidFill>
          <a:ln/>
        </p:spPr>
      </p:sp>
      <p:sp>
        <p:nvSpPr>
          <p:cNvPr id="24" name="Shape 18"/>
          <p:cNvSpPr/>
          <p:nvPr/>
        </p:nvSpPr>
        <p:spPr>
          <a:xfrm>
            <a:off x="7655362" y="454568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C9770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42528" y="4732734"/>
            <a:ext cx="306110" cy="30611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55362" y="54529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Skirt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7655362" y="5943362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Rating: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3.78</a:t>
            </a:r>
            <a:endParaRPr lang="en-US" sz="1750" dirty="0"/>
          </a:p>
        </p:txBody>
      </p:sp>
      <p:sp>
        <p:nvSpPr>
          <p:cNvPr id="28" name="Text 21"/>
          <p:cNvSpPr/>
          <p:nvPr/>
        </p:nvSpPr>
        <p:spPr>
          <a:xfrm>
            <a:off x="793790" y="678822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These top-rated products should be prominently featured in marketing campaigns and product positioning strategies to maximize customer satisfaction and sales.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8027" y="320516"/>
            <a:ext cx="4671655" cy="364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Customer Segmentation Analysis</a:t>
            </a:r>
            <a:endParaRPr lang="en-US" sz="2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1888" y="917972"/>
            <a:ext cx="2279333" cy="671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79520" y="1234559"/>
            <a:ext cx="163949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117783" y="1034534"/>
            <a:ext cx="1111091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New Customers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117783" y="1286589"/>
            <a:ext cx="1111091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83 customers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030272" y="1600319"/>
            <a:ext cx="9163050" cy="7620"/>
          </a:xfrm>
          <a:prstGeom prst="roundRect">
            <a:avLst>
              <a:gd name="adj" fmla="val 229512"/>
            </a:avLst>
          </a:prstGeom>
          <a:solidFill>
            <a:srgbClr val="D8D4D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222" y="1618655"/>
            <a:ext cx="4558665" cy="6716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79520" y="1852017"/>
            <a:ext cx="163949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257449" y="1735217"/>
            <a:ext cx="119193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Returning Buyers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257449" y="1987272"/>
            <a:ext cx="1191935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701 customers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169938" y="2301002"/>
            <a:ext cx="8023384" cy="7620"/>
          </a:xfrm>
          <a:prstGeom prst="roundRect">
            <a:avLst>
              <a:gd name="adj" fmla="val 229512"/>
            </a:avLst>
          </a:prstGeom>
          <a:solidFill>
            <a:srgbClr val="D8D4D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55" y="2319338"/>
            <a:ext cx="6837998" cy="6716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79520" y="2552700"/>
            <a:ext cx="163949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3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7397115" y="2435900"/>
            <a:ext cx="1165741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Loyal Customers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7397115" y="2687955"/>
            <a:ext cx="1165741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3,116 customers</a:t>
            </a:r>
            <a:endParaRPr lang="en-US" sz="9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027" y="3253145"/>
            <a:ext cx="6765012" cy="67650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64981" y="3226951"/>
            <a:ext cx="6765012" cy="372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5A6ED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80% of customers</a:t>
            </a:r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fall into the Loyal segment, demonstrating strong retention. Focus on converting the 701 Returning customers into Loyal status through targeted engagement programs.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52600"/>
            <a:ext cx="747450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Subscription Status Impact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01541"/>
            <a:ext cx="6407944" cy="2694503"/>
          </a:xfrm>
          <a:prstGeom prst="roundRect">
            <a:avLst>
              <a:gd name="adj" fmla="val 5430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801541"/>
            <a:ext cx="121920" cy="2694503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0588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Subscribers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549253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Total customers: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1,053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142524" y="3991451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Average spend: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$59.49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142524" y="4433649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Total revenue: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$62,645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42524" y="4875848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Subscription rate: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A6ED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27%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428548" y="2801541"/>
            <a:ext cx="6408063" cy="2694503"/>
          </a:xfrm>
          <a:prstGeom prst="roundRect">
            <a:avLst>
              <a:gd name="adj" fmla="val 5430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98067" y="2801541"/>
            <a:ext cx="121920" cy="2694503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7282" y="30588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Non-Subscribers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77282" y="3549253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Total customers: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2,847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777282" y="3991451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Average spend: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$59.87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777282" y="4433649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Total revenue: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$170,436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777282" y="4875848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Non-subscription rate: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73%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93790" y="575119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Despite similar average spending, the large non-subscriber base represents significant opportunity. Converting just 10% more customers to subscriptions could substantially increase predictable revenue.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5577"/>
            <a:ext cx="939712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Revenue by Category &amp; Age Group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81332"/>
            <a:ext cx="308645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Category Performance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690813"/>
            <a:ext cx="6244709" cy="34969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99521" y="20813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Age Group Revenue</a:t>
            </a:r>
            <a:endParaRPr lang="en-US" sz="2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9521" y="2690813"/>
            <a:ext cx="6244709" cy="349698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93790" y="669809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Clothing dominates revenue at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$104K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while Young Adults lead age group spending at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$62K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 Target marketing efforts toward these high-performing segments.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241" y="615791"/>
            <a:ext cx="7117556" cy="698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Discount Strategy Insights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1492091" y="3213854"/>
            <a:ext cx="2749153" cy="558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50"/>
              </a:lnSpc>
              <a:buNone/>
            </a:pPr>
            <a:r>
              <a:rPr lang="en-US" sz="43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50%</a:t>
            </a:r>
            <a:endParaRPr lang="en-US" sz="4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0387" y="1817013"/>
            <a:ext cx="3352681" cy="33526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9827" y="5449014"/>
            <a:ext cx="2793921" cy="34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Hat Discount Rate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782241" y="5932289"/>
            <a:ext cx="4169093" cy="715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Highest percentage of discounted purchases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40504" y="3213854"/>
            <a:ext cx="2749153" cy="558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50"/>
              </a:lnSpc>
              <a:buNone/>
            </a:pPr>
            <a:r>
              <a:rPr lang="en-US" sz="43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49.7%</a:t>
            </a:r>
            <a:endParaRPr lang="en-US" sz="4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817013"/>
            <a:ext cx="3352681" cy="335268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18240" y="5449014"/>
            <a:ext cx="2793921" cy="34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Sneakers</a:t>
            </a:r>
            <a:endParaRPr lang="en-US" sz="2150" dirty="0"/>
          </a:p>
        </p:txBody>
      </p:sp>
      <p:sp>
        <p:nvSpPr>
          <p:cNvPr id="10" name="Text 6"/>
          <p:cNvSpPr/>
          <p:nvPr/>
        </p:nvSpPr>
        <p:spPr>
          <a:xfrm>
            <a:off x="5230654" y="5932289"/>
            <a:ext cx="4169093" cy="357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Second highest discount dependency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88918" y="3213854"/>
            <a:ext cx="2749153" cy="558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50"/>
              </a:lnSpc>
              <a:buNone/>
            </a:pPr>
            <a:r>
              <a:rPr lang="en-US" sz="43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839</a:t>
            </a:r>
            <a:endParaRPr lang="en-US" sz="43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7213" y="1817013"/>
            <a:ext cx="3352681" cy="335268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967198" y="5449014"/>
            <a:ext cx="3592711" cy="34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High-Value Discount Users</a:t>
            </a:r>
            <a:endParaRPr lang="en-US" sz="2150" dirty="0"/>
          </a:p>
        </p:txBody>
      </p:sp>
      <p:sp>
        <p:nvSpPr>
          <p:cNvPr id="14" name="Text 9"/>
          <p:cNvSpPr/>
          <p:nvPr/>
        </p:nvSpPr>
        <p:spPr>
          <a:xfrm>
            <a:off x="9679067" y="5932289"/>
            <a:ext cx="4169093" cy="715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Customers using discounts but spending above average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782241" y="6898719"/>
            <a:ext cx="13065919" cy="715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Balance discount strategies carefully—839 customers used discounts while maintaining above-average spend. Review discount policies to optimize margin control without sacrificing sales volume.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6632"/>
            <a:ext cx="77789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Strategic Recommendations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179201"/>
            <a:ext cx="4196358" cy="2766298"/>
          </a:xfrm>
          <a:prstGeom prst="roundRect">
            <a:avLst>
              <a:gd name="adj" fmla="val 5289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148721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5" name="Shape 3"/>
          <p:cNvSpPr/>
          <p:nvPr/>
        </p:nvSpPr>
        <p:spPr>
          <a:xfrm>
            <a:off x="2551688" y="183903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C9770"/>
          </a:solidFill>
          <a:ln/>
        </p:spPr>
      </p:sp>
      <p:sp>
        <p:nvSpPr>
          <p:cNvPr id="6" name="Text 4"/>
          <p:cNvSpPr/>
          <p:nvPr/>
        </p:nvSpPr>
        <p:spPr>
          <a:xfrm>
            <a:off x="2755761" y="2009180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084" y="27461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Boost Subscriptions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084" y="3236595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Promote exclusive benefits to convert the 73% non-subscriber base into recurring revenue streams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2179201"/>
            <a:ext cx="4196358" cy="2766298"/>
          </a:xfrm>
          <a:prstGeom prst="roundRect">
            <a:avLst>
              <a:gd name="adj" fmla="val 5289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216962" y="2148721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11" name="Shape 9"/>
          <p:cNvSpPr/>
          <p:nvPr/>
        </p:nvSpPr>
        <p:spPr>
          <a:xfrm>
            <a:off x="6974860" y="183903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C9770"/>
          </a:solidFill>
          <a:ln/>
        </p:spPr>
      </p:sp>
      <p:sp>
        <p:nvSpPr>
          <p:cNvPr id="12" name="Text 10"/>
          <p:cNvSpPr/>
          <p:nvPr/>
        </p:nvSpPr>
        <p:spPr>
          <a:xfrm>
            <a:off x="7178933" y="2009180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474256" y="2746177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Customer Loyalty Programs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74256" y="3590925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Reward repeat buyers to accelerate movement from Returning to Loyal segment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9640133" y="2179201"/>
            <a:ext cx="4196358" cy="2766298"/>
          </a:xfrm>
          <a:prstGeom prst="roundRect">
            <a:avLst>
              <a:gd name="adj" fmla="val 5289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9640133" y="2148721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17" name="Shape 15"/>
          <p:cNvSpPr/>
          <p:nvPr/>
        </p:nvSpPr>
        <p:spPr>
          <a:xfrm>
            <a:off x="11398032" y="183903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C9770"/>
          </a:solidFill>
          <a:ln/>
        </p:spPr>
      </p:sp>
      <p:sp>
        <p:nvSpPr>
          <p:cNvPr id="18" name="Text 16"/>
          <p:cNvSpPr/>
          <p:nvPr/>
        </p:nvSpPr>
        <p:spPr>
          <a:xfrm>
            <a:off x="11602105" y="2009180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897427" y="2746177"/>
            <a:ext cx="34141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Optimize Discount Policy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897427" y="3236595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Balance promotional sales boosts with margin control, especially for high-discount products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93790" y="5512475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93790" y="5481995"/>
            <a:ext cx="6407944" cy="121920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540" y="517231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C9770"/>
          </a:solidFill>
          <a:ln/>
        </p:spPr>
      </p:sp>
      <p:sp>
        <p:nvSpPr>
          <p:cNvPr id="24" name="Text 22"/>
          <p:cNvSpPr/>
          <p:nvPr/>
        </p:nvSpPr>
        <p:spPr>
          <a:xfrm>
            <a:off x="3861614" y="534245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51084" y="60794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Product Positioning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51084" y="6569869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Feature top-rated products (Gloves, Sandals, Boots) prominently in marketing campaigns</a:t>
            </a:r>
            <a:endParaRPr lang="en-US" sz="1750" dirty="0"/>
          </a:p>
        </p:txBody>
      </p:sp>
      <p:sp>
        <p:nvSpPr>
          <p:cNvPr id="27" name="Shape 25"/>
          <p:cNvSpPr/>
          <p:nvPr/>
        </p:nvSpPr>
        <p:spPr>
          <a:xfrm>
            <a:off x="7428548" y="5512475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7428548" y="5481995"/>
            <a:ext cx="6407944" cy="121920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29" name="Shape 27"/>
          <p:cNvSpPr/>
          <p:nvPr/>
        </p:nvSpPr>
        <p:spPr>
          <a:xfrm>
            <a:off x="10292298" y="517231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C9770"/>
          </a:solidFill>
          <a:ln/>
        </p:spPr>
      </p:sp>
      <p:sp>
        <p:nvSpPr>
          <p:cNvPr id="30" name="Text 28"/>
          <p:cNvSpPr/>
          <p:nvPr/>
        </p:nvSpPr>
        <p:spPr>
          <a:xfrm>
            <a:off x="10496371" y="534245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5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7685842" y="60794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Targeted Marketing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685842" y="6569869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Focus on Young Adults and express-shipping users who demonstrate higher revenue potential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2025-12-11T09:05:30Z</dcterms:created>
  <dcterms:modified xsi:type="dcterms:W3CDTF">2025-12-11T09:05:30Z</dcterms:modified>
</cp:coreProperties>
</file>